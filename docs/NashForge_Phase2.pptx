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2F4858"/>
                </a:solidFill>
                <a:latin typeface="Calibri"/>
              </a:rPr>
              <a:t>NashForge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F3A44"/>
                </a:solidFill>
                <a:latin typeface="Calibri"/>
              </a:rPr>
              <a:t>One instrument for three learning families in heads-up no-limit hold'em,
and what a live arena adds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80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C646A"/>
                </a:solidFill>
                <a:latin typeface="Calibri"/>
              </a:rPr>
              <a:t>Dheirav Prakash</a:t>
            </a:r>
          </a:p>
          <a:p>
            <a:r>
              <a:rPr sz="1600" b="0">
                <a:solidFill>
                  <a:srgbClr val="5C646A"/>
                </a:solidFill>
                <a:latin typeface="Calibri"/>
              </a:rPr>
              <a:t>Department of Computer Science and Engineering, College of Engineering Guindy, Anna University</a:t>
            </a:r>
          </a:p>
          <a:p>
            <a:r>
              <a:rPr sz="1600" b="0">
                <a:solidFill>
                  <a:srgbClr val="5C646A"/>
                </a:solidFill>
                <a:latin typeface="Calibri"/>
              </a:rPr>
              <a:t>CS23E02 Artificial Intelligence, mini project phase 2,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4858"/>
                </a:solidFill>
                <a:latin typeface="Calibri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46A"/>
                </a:solidFill>
                <a:latin typeface="Calibri"/>
              </a:rPr>
              <a:t>The question, the constraint, and what phase 2 adds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20000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F3A44"/>
                </a:solidFill>
                <a:latin typeface="Calibri"/>
              </a:rPr>
              <a:t>Compare three ways of learning to play poker on ONE instrument:</a:t>
            </a:r>
          </a:p>
          <a:p>
            <a:r>
              <a:rPr sz="1600" b="0">
                <a:solidFill>
                  <a:srgbClr val="2F3A44"/>
                </a:solidFill>
                <a:latin typeface="Calibri"/>
              </a:rPr>
              <a:t>   regret minimisation (MCCFR), evolutionary search, deep RL (PPO)</a:t>
            </a:r>
          </a:p>
          <a:p>
            <a:r>
              <a:rPr sz="1600" b="0">
                <a:solidFill>
                  <a:srgbClr val="2F3A44"/>
                </a:solidFill>
                <a:latin typeface="Calibri"/>
              </a:rPr>
              <a:t/>
            </a:r>
          </a:p>
          <a:p>
            <a:r>
              <a:rPr sz="1600" b="0">
                <a:solidFill>
                  <a:srgbClr val="2F3A44"/>
                </a:solidFill>
                <a:latin typeface="Calibri"/>
              </a:rPr>
              <a:t>Same engine, same abstraction, same 40,000-hand evaluation with error bars,</a:t>
            </a:r>
          </a:p>
          <a:p>
            <a:r>
              <a:rPr sz="1600" b="0">
                <a:solidFill>
                  <a:srgbClr val="2F3A44"/>
                </a:solidFill>
                <a:latin typeface="Calibri"/>
              </a:rPr>
              <a:t>so that a difference between families is a measurement and not an artefact.</a:t>
            </a:r>
          </a:p>
          <a:p>
            <a:r>
              <a:rPr sz="1600" b="0">
                <a:solidFill>
                  <a:srgbClr val="2F3A44"/>
                </a:solidFill>
                <a:latin typeface="Calibri"/>
              </a:rPr>
              <a:t/>
            </a:r>
          </a:p>
          <a:p>
            <a:r>
              <a:rPr sz="1600" b="0">
                <a:solidFill>
                  <a:srgbClr val="2F3A44"/>
                </a:solidFill>
                <a:latin typeface="Calibri"/>
              </a:rPr>
              <a:t>Phase 2:</a:t>
            </a:r>
          </a:p>
          <a:p>
            <a:r>
              <a:rPr sz="1600" b="0">
                <a:solidFill>
                  <a:srgbClr val="2F3A44"/>
                </a:solidFill>
                <a:latin typeface="Calibri"/>
              </a:rPr>
              <a:t>  - the comparison itself, on a converged panel</a:t>
            </a:r>
          </a:p>
          <a:p>
            <a:r>
              <a:rPr sz="1600" b="0">
                <a:solidFill>
                  <a:srgbClr val="2F3A44"/>
                </a:solidFill>
                <a:latin typeface="Calibri"/>
              </a:rPr>
              <a:t>  - two abstraction findings (six buckets; estimator noise)</a:t>
            </a:r>
          </a:p>
          <a:p>
            <a:r>
              <a:rPr sz="1600" b="0">
                <a:solidFill>
                  <a:srgbClr val="2F3A44"/>
                </a:solidFill>
                <a:latin typeface="Calibri"/>
              </a:rPr>
              <a:t>  - a C++ core: 32.5x, a solver in 109 s</a:t>
            </a:r>
          </a:p>
          <a:p>
            <a:r>
              <a:rPr sz="1600" b="0">
                <a:solidFill>
                  <a:srgbClr val="2F3A44"/>
                </a:solidFill>
                <a:latin typeface="Calibri"/>
              </a:rPr>
              <a:t>  - the solver deployed as a rated bot on a public arena,</a:t>
            </a:r>
          </a:p>
          <a:p>
            <a:r>
              <a:rPr sz="1600" b="0">
                <a:solidFill>
                  <a:srgbClr val="2F3A44"/>
                </a:solidFill>
                <a:latin typeface="Calibri"/>
              </a:rPr>
              <a:t>    every decision logged, and the weakest point 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F3A44"/>
                </a:solidFill>
                <a:latin typeface="Calibri"/>
              </a:rPr>
              <a:t>Base papers</a:t>
            </a:r>
          </a:p>
          <a:p>
            <a:r>
              <a:rPr sz="1500" b="0">
                <a:solidFill>
                  <a:srgbClr val="2F3A44"/>
                </a:solidFill>
                <a:latin typeface="Calibri"/>
              </a:rPr>
              <a:t>Lanctot et al. 2009: Monte Carlo CFR (the solver)</a:t>
            </a:r>
          </a:p>
          <a:p>
            <a:r>
              <a:rPr sz="1500" b="0">
                <a:solidFill>
                  <a:srgbClr val="2F3A44"/>
                </a:solidFill>
                <a:latin typeface="Calibri"/>
              </a:rPr>
              <a:t>Johanson et al. 2013: evaluating abstractions (the findings)</a:t>
            </a:r>
          </a:p>
          <a:p>
            <a:r>
              <a:rPr sz="1500" b="0">
                <a:solidFill>
                  <a:srgbClr val="2F3A44"/>
                </a:solidFill>
                <a:latin typeface="Calibri"/>
              </a:rPr>
              <a:t>Ganzfried and Sandholm 2013: action translation (the bridge)</a:t>
            </a:r>
          </a:p>
          <a:p>
            <a:r>
              <a:rPr sz="1500" b="0">
                <a:solidFill>
                  <a:srgbClr val="2F3A44"/>
                </a:solidFill>
                <a:latin typeface="Calibri"/>
              </a:rPr>
              <a:t/>
            </a:r>
          </a:p>
          <a:p>
            <a:r>
              <a:rPr sz="1500" b="0">
                <a:solidFill>
                  <a:srgbClr val="2F3A44"/>
                </a:solidFill>
                <a:latin typeface="Calibri"/>
              </a:rPr>
              <a:t>Contribution beyond them</a:t>
            </a:r>
          </a:p>
          <a:p>
            <a:r>
              <a:rPr sz="1500" b="0">
                <a:solidFill>
                  <a:srgbClr val="2F3A44"/>
                </a:solidFill>
                <a:latin typeface="Calibri"/>
              </a:rPr>
              <a:t>The instrument; the three-way comparison; the noise</a:t>
            </a:r>
          </a:p>
          <a:p>
            <a:r>
              <a:rPr sz="1500" b="0">
                <a:solidFill>
                  <a:srgbClr val="2F3A44"/>
                </a:solidFill>
                <a:latin typeface="Calibri"/>
              </a:rPr>
              <a:t>diagnosis of a bucket sweep; a native core; and live</a:t>
            </a:r>
          </a:p>
          <a:p>
            <a:r>
              <a:rPr sz="1500" b="0">
                <a:solidFill>
                  <a:srgbClr val="2F3A44"/>
                </a:solidFill>
                <a:latin typeface="Calibri"/>
              </a:rPr>
              <a:t>rated play used as an instrument in its own right.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4858"/>
                </a:solidFill>
                <a:latin typeface="Calibri"/>
              </a:rPr>
              <a:t>Overall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46A"/>
                </a:solidFill>
                <a:latin typeface="Calibri"/>
              </a:rPr>
              <a:t>engine and abstraction shared; three families; one internal instrument, two external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20000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00200"/>
            <a:ext cx="779648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4858"/>
                </a:solidFill>
                <a:latin typeface="Calibri"/>
              </a:rPr>
              <a:t>Module design, snapshots and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46A"/>
                </a:solidFill>
                <a:latin typeface="Calibri"/>
              </a:rPr>
              <a:t>arena: 73 matches, 46 won, 2,852 hands, +169,021 chips; decisions in under a millisecond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20000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arena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5852160" cy="3207823"/>
          </a:xfrm>
          <a:prstGeom prst="rect">
            <a:avLst/>
          </a:prstGeom>
        </p:spPr>
      </p:pic>
      <p:pic>
        <p:nvPicPr>
          <p:cNvPr id="6" name="Picture 5" descr="fig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4758271" cy="2377440"/>
          </a:xfrm>
          <a:prstGeom prst="rect">
            <a:avLst/>
          </a:prstGeom>
        </p:spPr>
      </p:pic>
      <p:pic>
        <p:nvPicPr>
          <p:cNvPr id="7" name="Picture 6" descr="snap_decision_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572000"/>
            <a:ext cx="5852160" cy="1496041"/>
          </a:xfrm>
          <a:prstGeom prst="rect">
            <a:avLst/>
          </a:prstGeom>
        </p:spPr>
      </p:pic>
      <p:pic>
        <p:nvPicPr>
          <p:cNvPr id="8" name="Picture 7" descr="fig_arena_dep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160520"/>
            <a:ext cx="4264726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4206240"/>
            <a:ext cx="1645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F3A44"/>
                </a:solidFill>
                <a:latin typeface="Calibri"/>
              </a:rPr>
              <a:t>Solver over PPO +75,</a:t>
            </a:r>
          </a:p>
          <a:p>
            <a:r>
              <a:rPr sz="1000" b="0">
                <a:solidFill>
                  <a:srgbClr val="2F3A44"/>
                </a:solidFill>
                <a:latin typeface="Calibri"/>
              </a:rPr>
              <a:t>over evolution +212</a:t>
            </a:r>
          </a:p>
          <a:p>
            <a:r>
              <a:rPr sz="1000" b="0">
                <a:solidFill>
                  <a:srgbClr val="2F3A44"/>
                </a:solidFill>
                <a:latin typeface="Calibri"/>
              </a:rPr>
              <a:t>BB/100</a:t>
            </a:r>
          </a:p>
          <a:p>
            <a:r>
              <a:rPr sz="1000" b="0">
                <a:solidFill>
                  <a:srgbClr val="2F3A44"/>
                </a:solidFill>
                <a:latin typeface="Calibri"/>
              </a:rPr>
              <a:t/>
            </a:r>
          </a:p>
          <a:p>
            <a:r>
              <a:rPr sz="1000" b="0">
                <a:solidFill>
                  <a:srgbClr val="2F3A44"/>
                </a:solidFill>
                <a:latin typeface="Calibri"/>
              </a:rPr>
              <a:t>200 samples: +5.9</a:t>
            </a:r>
          </a:p>
          <a:p>
            <a:r>
              <a:rPr sz="1000" b="0">
                <a:solidFill>
                  <a:srgbClr val="2F3A44"/>
                </a:solidFill>
                <a:latin typeface="Calibri"/>
              </a:rPr>
              <a:t>BB/100</a:t>
            </a:r>
          </a:p>
          <a:p>
            <a:r>
              <a:rPr sz="1000" b="0">
                <a:solidFill>
                  <a:srgbClr val="2F3A44"/>
                </a:solidFill>
                <a:latin typeface="Calibri"/>
              </a:rPr>
              <a:t/>
            </a:r>
          </a:p>
          <a:p>
            <a:r>
              <a:rPr sz="1000" b="0">
                <a:solidFill>
                  <a:srgbClr val="2F3A44"/>
                </a:solidFill>
                <a:latin typeface="Calibri"/>
              </a:rPr>
              <a:t>Deep stacks lose,</a:t>
            </a:r>
          </a:p>
          <a:p>
            <a:r>
              <a:rPr sz="1000" b="0">
                <a:solidFill>
                  <a:srgbClr val="2F3A44"/>
                </a:solidFill>
                <a:latin typeface="Calibri"/>
              </a:rPr>
              <a:t>shallow win:</a:t>
            </a:r>
          </a:p>
          <a:p>
            <a:r>
              <a:rPr sz="1000" b="0">
                <a:solidFill>
                  <a:srgbClr val="2F3A44"/>
                </a:solidFill>
                <a:latin typeface="Calibri"/>
              </a:rPr>
              <a:t>the re-raise gap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